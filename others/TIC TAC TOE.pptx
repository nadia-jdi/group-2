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VT323"/>
      <p:regular r:id="rId22"/>
    </p:embeddedFont>
    <p:embeddedFont>
      <p:font typeface="Roboto Mono Light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CB3719-8A94-472B-B61A-DFC2F85FC5C8}">
  <a:tblStyle styleId="{98CB3719-8A94-472B-B61A-DFC2F85FC5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VT323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RobotoMonoLight-bold.fntdata"/><Relationship Id="rId23" Type="http://schemas.openxmlformats.org/officeDocument/2006/relationships/font" Target="fonts/RobotoMono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Light-boldItalic.fntdata"/><Relationship Id="rId25" Type="http://schemas.openxmlformats.org/officeDocument/2006/relationships/font" Target="fonts/RobotoMonoLight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656246f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656246f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6af0874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6af0874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656246f8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656246f8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656246f8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656246f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656246f8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656246f8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656246f8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656246f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656246f8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656246f8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656246f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656246f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656246f8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656246f8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656246f8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656246f8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/>
          <p:nvPr>
            <p:ph idx="2" type="pic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b="0" l="61983" r="0" t="0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Google Shape;20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3" type="pic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/>
          <p:nvPr>
            <p:ph idx="2" type="pic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69" name="Google Shape;69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5" type="subTitle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7" type="subTitle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5"/>
          <p:cNvSpPr/>
          <p:nvPr>
            <p:ph idx="2" type="pic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11" name="Google Shape;111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2" type="subTitle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3" type="subTitle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hasCustomPrompt="1"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/>
          <p:nvPr>
            <p:ph hasCustomPrompt="1" idx="4" type="title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/>
          <p:nvPr>
            <p:ph hasCustomPrompt="1" idx="5" type="title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6" name="Google Shape;126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5" type="subTitle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hasCustomPrompt="1"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/>
          <p:nvPr>
            <p:ph hasCustomPrompt="1"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9"/>
          <p:cNvSpPr txBox="1"/>
          <p:nvPr>
            <p:ph hasCustomPrompt="1"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9"/>
          <p:cNvSpPr txBox="1"/>
          <p:nvPr>
            <p:ph hasCustomPrompt="1"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/>
          <p:nvPr>
            <p:ph hasCustomPrompt="1"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9"/>
          <p:cNvSpPr txBox="1"/>
          <p:nvPr>
            <p:ph hasCustomPrompt="1"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42" name="Google Shape;142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/>
          <p:nvPr>
            <p:ph hasCustomPrompt="1"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/>
          <p:nvPr>
            <p:ph idx="1" type="subTitle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hasCustomPrompt="1" idx="2" type="title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/>
          <p:nvPr>
            <p:ph idx="3" type="subTitle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b="47107" l="19763" r="19447" t="14676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0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ctrTitle"/>
          </p:nvPr>
        </p:nvSpPr>
        <p:spPr>
          <a:xfrm>
            <a:off x="606800" y="719126"/>
            <a:ext cx="5060700" cy="22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TIC TAC TOE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</a:t>
            </a:r>
            <a:endParaRPr/>
          </a:p>
        </p:txBody>
      </p:sp>
      <p:sp>
        <p:nvSpPr>
          <p:cNvPr id="169" name="Google Shape;169;p24"/>
          <p:cNvSpPr txBox="1"/>
          <p:nvPr>
            <p:ph idx="1" type="subTitle"/>
          </p:nvPr>
        </p:nvSpPr>
        <p:spPr>
          <a:xfrm>
            <a:off x="606800" y="2915300"/>
            <a:ext cx="5204100" cy="18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Nadia Nower 2612723642</a:t>
            </a:r>
            <a:endParaRPr sz="1900">
              <a:solidFill>
                <a:srgbClr val="000000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Humira Anjum 2614017042</a:t>
            </a:r>
            <a:endParaRPr sz="1900">
              <a:solidFill>
                <a:srgbClr val="000000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Toufa Mahmud 2613557642</a:t>
            </a:r>
            <a:endParaRPr sz="1900">
              <a:solidFill>
                <a:srgbClr val="000000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9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Halimatuz Lubana Biva 2613007042</a:t>
            </a:r>
            <a:endParaRPr sz="1900"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35854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CSE 115 - PROGRAMMING LANGUAGE</a:t>
            </a:r>
            <a:endParaRPr sz="16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 rotWithShape="1">
          <a:blip r:embed="rId3">
            <a:alphaModFix/>
          </a:blip>
          <a:srcRect b="19390" l="17363" r="17337" t="17163"/>
          <a:stretch/>
        </p:blipFill>
        <p:spPr>
          <a:xfrm>
            <a:off x="5811000" y="1340550"/>
            <a:ext cx="2817125" cy="27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77" name="Google Shape;177;p25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78" name="Google Shape;178;p25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179" name="Google Shape;179;p25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5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1" name="Google Shape;181;p25"/>
          <p:cNvPicPr preferRelativeResize="0"/>
          <p:nvPr/>
        </p:nvPicPr>
        <p:blipFill rotWithShape="1">
          <a:blip r:embed="rId4">
            <a:alphaModFix/>
          </a:blip>
          <a:srcRect b="12546" l="7987" r="4248" t="16733"/>
          <a:stretch/>
        </p:blipFill>
        <p:spPr>
          <a:xfrm>
            <a:off x="6386650" y="1212525"/>
            <a:ext cx="2107350" cy="169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360675" y="4516250"/>
            <a:ext cx="188100" cy="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188175" y="4375100"/>
            <a:ext cx="85464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720000" y="883425"/>
            <a:ext cx="7704000" cy="3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3x3 grid is used to play the traditional logic game Tic-Tac-Toe.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 order to win the game, two players alternately enter the symbols "X" or "O" to align three identical symbols horizontally, vertically, or diagonally.The game is a draw if the board is completely filled and neither player can achieve this alignment.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project uses the C programming language to create a local competitive version of the game, emphasizing procedural logic, modular function design, and strong input validation to guarantee a flawless user experience. </a:t>
            </a:r>
            <a:endParaRPr sz="1400"/>
          </a:p>
        </p:txBody>
      </p:sp>
      <p:sp>
        <p:nvSpPr>
          <p:cNvPr id="189" name="Google Shape;189;p26"/>
          <p:cNvSpPr txBox="1"/>
          <p:nvPr/>
        </p:nvSpPr>
        <p:spPr>
          <a:xfrm>
            <a:off x="517475" y="4390800"/>
            <a:ext cx="8405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Declaring a global 3x3 board for the game.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Implemented resetBoard( ) - to clear and refresh the board each round.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Built the main loop-to keep the game running until a win or draw is declared.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Added player switching logic - Alternates turns between player 1 and player 2 which ensures fair and smooth gameplay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5" name="Google Shape;195;p27"/>
          <p:cNvSpPr txBox="1"/>
          <p:nvPr/>
        </p:nvSpPr>
        <p:spPr>
          <a:xfrm>
            <a:off x="1144750" y="1301550"/>
            <a:ext cx="802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Foundation of Gameplay:</a:t>
            </a:r>
            <a:endParaRPr b="1"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501800" y="4406475"/>
            <a:ext cx="8389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  Nadia Nower  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Approach</a:t>
            </a:r>
            <a:endParaRPr/>
          </a:p>
        </p:txBody>
      </p:sp>
      <p:sp>
        <p:nvSpPr>
          <p:cNvPr id="202" name="Google Shape;202;p28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250900" y="4281025"/>
            <a:ext cx="840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</a:t>
            </a:r>
            <a:r>
              <a:rPr lang="en">
                <a:latin typeface="VT323"/>
                <a:ea typeface="VT323"/>
                <a:cs typeface="VT323"/>
                <a:sym typeface="VT323"/>
              </a:rPr>
              <a:t>Nadia Nower        Humira Anjum           Toufa Mahmud                  Halimatuz Lubana Biva 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720000" y="779475"/>
            <a:ext cx="7704000" cy="3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The drawBoard ( ) function  was designed to be simple and clear. We used vertical bars ( | ) and horizontal dashes (- - -) to create a recognizable  3x3 grid. This ensures that the screen refreshes every turn.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The game follows a “top-down” design: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">
                <a:solidFill>
                  <a:srgbClr val="000000"/>
                </a:solidFill>
              </a:rPr>
              <a:t>Input :</a:t>
            </a:r>
            <a:r>
              <a:rPr lang="en" sz="1300">
                <a:solidFill>
                  <a:srgbClr val="000000"/>
                </a:solidFill>
              </a:rPr>
              <a:t> Get the number from the player.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">
                <a:solidFill>
                  <a:srgbClr val="000000"/>
                </a:solidFill>
              </a:rPr>
              <a:t>Process </a:t>
            </a:r>
            <a:r>
              <a:rPr lang="en" sz="1300">
                <a:solidFill>
                  <a:srgbClr val="000000"/>
                </a:solidFill>
              </a:rPr>
              <a:t>: Update the 2D array and check the rules.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">
                <a:solidFill>
                  <a:srgbClr val="000000"/>
                </a:solidFill>
              </a:rPr>
              <a:t>Output : </a:t>
            </a:r>
            <a:r>
              <a:rPr lang="en" sz="1300">
                <a:solidFill>
                  <a:srgbClr val="000000"/>
                </a:solidFill>
              </a:rPr>
              <a:t>Show the new board with ‘X’ or ‘O’ in the cell.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This design ensures the game doesn’t crash if the player enters a wrong number.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306600" y="4484900"/>
            <a:ext cx="85308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Logic</a:t>
            </a:r>
            <a:endParaRPr/>
          </a:p>
        </p:txBody>
      </p:sp>
      <p:sp>
        <p:nvSpPr>
          <p:cNvPr id="215" name="Google Shape;215;p30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6" name="Google Shape;216;p30"/>
          <p:cNvSpPr txBox="1"/>
          <p:nvPr/>
        </p:nvSpPr>
        <p:spPr>
          <a:xfrm>
            <a:off x="172500" y="4343750"/>
            <a:ext cx="8577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616200" y="696925"/>
            <a:ext cx="7773300" cy="4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game board us stored as </a:t>
            </a:r>
            <a:r>
              <a:rPr lang="en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char board[3][3];</a:t>
            </a:r>
            <a:r>
              <a:rPr lang="en">
                <a:solidFill>
                  <a:srgbClr val="000000"/>
                </a:solidFill>
              </a:rPr>
              <a:t> where the user inputs numbers from 1 to 9.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It is converted into 2D indices using: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row = (choice - 1) / 3;</a:t>
            </a:r>
            <a:endParaRPr>
              <a:solidFill>
                <a:srgbClr val="000000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col = (choice - 1) % 3;</a:t>
            </a:r>
            <a:endParaRPr>
              <a:solidFill>
                <a:srgbClr val="000000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allows the computer to know exactly which square the player clicked.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Then </a:t>
            </a:r>
            <a:r>
              <a:rPr lang="en">
                <a:solidFill>
                  <a:srgbClr val="000000"/>
                </a:solidFill>
              </a:rPr>
              <a:t>the</a:t>
            </a:r>
            <a:r>
              <a:rPr lang="en">
                <a:solidFill>
                  <a:srgbClr val="000000"/>
                </a:solidFill>
              </a:rPr>
              <a:t> loop does three things in order: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Mono"/>
              <a:buAutoNum type="arabicPeriod"/>
            </a:pPr>
            <a:r>
              <a:rPr lang="en">
                <a:solidFill>
                  <a:srgbClr val="000000"/>
                </a:solidFill>
              </a:rPr>
              <a:t>Draw the latest board on the screen so the players can see it.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Mono"/>
              <a:buAutoNum type="arabicPeriod"/>
            </a:pPr>
            <a:r>
              <a:rPr lang="en">
                <a:solidFill>
                  <a:srgbClr val="000000"/>
                </a:solidFill>
              </a:rPr>
              <a:t>Swaps the turn from player 1 to player 2.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Mono"/>
              <a:buAutoNum type="arabicPeriod"/>
            </a:pPr>
            <a:r>
              <a:rPr lang="en">
                <a:solidFill>
                  <a:srgbClr val="000000"/>
                </a:solidFill>
              </a:rPr>
              <a:t>Checks if the number typed is a valid move or not.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501800" y="4437825"/>
            <a:ext cx="8342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 Fixes</a:t>
            </a:r>
            <a:endParaRPr/>
          </a:p>
        </p:txBody>
      </p:sp>
      <p:sp>
        <p:nvSpPr>
          <p:cNvPr id="228" name="Google Shape;228;p32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156800" y="4328050"/>
            <a:ext cx="85776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720000" y="834350"/>
            <a:ext cx="7704000" cy="3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During testing, when a letter was typed </a:t>
            </a:r>
            <a:r>
              <a:rPr lang="en" sz="1400">
                <a:solidFill>
                  <a:srgbClr val="000000"/>
                </a:solidFill>
              </a:rPr>
              <a:t>accidentally</a:t>
            </a:r>
            <a:r>
              <a:rPr lang="en" sz="1400">
                <a:solidFill>
                  <a:srgbClr val="000000"/>
                </a:solidFill>
              </a:rPr>
              <a:t> instead of a number, the program went on an infinite loop and crashed.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To fix this issue the </a:t>
            </a:r>
            <a:r>
              <a:rPr lang="en" sz="1400">
                <a:solidFill>
                  <a:srgbClr val="000000"/>
                </a:solidFill>
              </a:rPr>
              <a:t>getchar(); function was used as opposed to only scanf. It cleared out unwanted input from the program.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if (scanf("%d", &amp;choice) != 1) { </a:t>
            </a:r>
            <a:endParaRPr sz="1400">
              <a:solidFill>
                <a:srgbClr val="000000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   while(getchar() != '\n'); // The "Cleaner"</a:t>
            </a:r>
            <a:endParaRPr sz="1400">
              <a:solidFill>
                <a:srgbClr val="000000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   continue; </a:t>
            </a:r>
            <a:endParaRPr sz="1400">
              <a:solidFill>
                <a:srgbClr val="000000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}</a:t>
            </a:r>
            <a:endParaRPr sz="1400">
              <a:solidFill>
                <a:srgbClr val="000000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The outcome of this </a:t>
            </a:r>
            <a:r>
              <a:rPr lang="en" sz="1400">
                <a:solidFill>
                  <a:srgbClr val="000000"/>
                </a:solidFill>
              </a:rPr>
              <a:t>change</a:t>
            </a:r>
            <a:r>
              <a:rPr lang="en" sz="1400">
                <a:solidFill>
                  <a:srgbClr val="000000"/>
                </a:solidFill>
              </a:rPr>
              <a:t> ensured a much smoother gameplay and 100% stable input handling from the user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235" name="Google Shape;235;p33"/>
          <p:cNvGraphicFramePr/>
          <p:nvPr/>
        </p:nvGraphicFramePr>
        <p:xfrm>
          <a:off x="759275" y="232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{98CB3719-8A94-472B-B61A-DFC2F85FC5C8}</a:tableStyleId>
              </a:tblPr>
              <a:tblGrid>
                <a:gridCol w="7435300"/>
              </a:tblGrid>
              <a:tr h="15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532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32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32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32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33"/>
          <p:cNvSpPr txBox="1"/>
          <p:nvPr/>
        </p:nvSpPr>
        <p:spPr>
          <a:xfrm>
            <a:off x="329300" y="4390800"/>
            <a:ext cx="85935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Improvements</a:t>
            </a:r>
            <a:endParaRPr/>
          </a:p>
        </p:txBody>
      </p:sp>
      <p:sp>
        <p:nvSpPr>
          <p:cNvPr id="242" name="Google Shape;242;p34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43" name="Google Shape;243;p34"/>
          <p:cNvSpPr txBox="1"/>
          <p:nvPr/>
        </p:nvSpPr>
        <p:spPr>
          <a:xfrm>
            <a:off x="267450" y="4312375"/>
            <a:ext cx="8609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720000" y="824525"/>
            <a:ext cx="7704000" cy="3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So we have developed a robust, bug-free Tic-Tac-Toe console game which has been designed for fast, </a:t>
            </a:r>
            <a:r>
              <a:rPr lang="en" sz="1400">
                <a:solidFill>
                  <a:srgbClr val="000000"/>
                </a:solidFill>
              </a:rPr>
              <a:t>competitive</a:t>
            </a:r>
            <a:r>
              <a:rPr lang="en" sz="1400">
                <a:solidFill>
                  <a:srgbClr val="000000"/>
                </a:solidFill>
              </a:rPr>
              <a:t> local play. This project allowed as to demonstrate all of the core C programming concepts which were learnt over this semester.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Future Scope: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rgbClr val="000000"/>
                </a:solidFill>
              </a:rPr>
              <a:t>Expand to a 4×4 or NxN board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rgbClr val="000000"/>
                </a:solidFill>
              </a:rPr>
              <a:t>Implement Minimax AI opponent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rgbClr val="000000"/>
                </a:solidFill>
              </a:rPr>
              <a:t>Add score tracking system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rgbClr val="000000"/>
                </a:solidFill>
              </a:rPr>
              <a:t>Upgrade to GUI-based version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9" name="Google Shape;249;p35"/>
          <p:cNvSpPr txBox="1"/>
          <p:nvPr/>
        </p:nvSpPr>
        <p:spPr>
          <a:xfrm>
            <a:off x="454750" y="4406475"/>
            <a:ext cx="843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VT323"/>
                <a:ea typeface="VT323"/>
                <a:cs typeface="VT323"/>
                <a:sym typeface="VT323"/>
              </a:rPr>
              <a:t>Group 2  Nadia Nower        Humira Anjum           Toufa Mahmud                  Halimatuz Lubana Biva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